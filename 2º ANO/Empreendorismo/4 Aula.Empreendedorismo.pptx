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32" r:id="rId3"/>
    <p:sldId id="291" r:id="rId4"/>
    <p:sldId id="311" r:id="rId5"/>
    <p:sldId id="312" r:id="rId6"/>
    <p:sldId id="324" r:id="rId7"/>
    <p:sldId id="285" r:id="rId8"/>
    <p:sldId id="315" r:id="rId9"/>
    <p:sldId id="316" r:id="rId10"/>
    <p:sldId id="325" r:id="rId11"/>
    <p:sldId id="330" r:id="rId12"/>
    <p:sldId id="331" r:id="rId13"/>
    <p:sldId id="317" r:id="rId14"/>
    <p:sldId id="318" r:id="rId15"/>
    <p:sldId id="334" r:id="rId16"/>
    <p:sldId id="335" r:id="rId17"/>
    <p:sldId id="336" r:id="rId18"/>
    <p:sldId id="338" r:id="rId19"/>
    <p:sldId id="337" r:id="rId20"/>
  </p:sldIdLst>
  <p:sldSz cx="9144000" cy="6858000" type="screen4x3"/>
  <p:notesSz cx="6881813" cy="100028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8D51BA07-F7D7-4808-B8DD-B4FEADD5A664}">
          <p14:sldIdLst>
            <p14:sldId id="258"/>
            <p14:sldId id="332"/>
            <p14:sldId id="291"/>
            <p14:sldId id="311"/>
            <p14:sldId id="312"/>
            <p14:sldId id="324"/>
            <p14:sldId id="285"/>
            <p14:sldId id="315"/>
            <p14:sldId id="316"/>
            <p14:sldId id="325"/>
            <p14:sldId id="330"/>
            <p14:sldId id="331"/>
            <p14:sldId id="317"/>
            <p14:sldId id="318"/>
            <p14:sldId id="334"/>
            <p14:sldId id="335"/>
            <p14:sldId id="336"/>
            <p14:sldId id="338"/>
            <p14:sldId id="3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5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Vairinho" userId="88c1a611-119f-4770-af5e-a5d14f59faaa" providerId="ADAL" clId="{2012228C-8947-478B-B928-9C2809C534CE}"/>
    <pc:docChg chg="modSld">
      <pc:chgData name="Sofia Vairinho" userId="88c1a611-119f-4770-af5e-a5d14f59faaa" providerId="ADAL" clId="{2012228C-8947-478B-B928-9C2809C534CE}" dt="2024-10-29T09:46:20.114" v="0" actId="6549"/>
      <pc:docMkLst>
        <pc:docMk/>
      </pc:docMkLst>
      <pc:sldChg chg="modSp">
        <pc:chgData name="Sofia Vairinho" userId="88c1a611-119f-4770-af5e-a5d14f59faaa" providerId="ADAL" clId="{2012228C-8947-478B-B928-9C2809C534CE}" dt="2024-10-29T09:46:20.114" v="0" actId="6549"/>
        <pc:sldMkLst>
          <pc:docMk/>
          <pc:sldMk cId="381855259" sldId="258"/>
        </pc:sldMkLst>
        <pc:spChg chg="mod">
          <ac:chgData name="Sofia Vairinho" userId="88c1a611-119f-4770-af5e-a5d14f59faaa" providerId="ADAL" clId="{2012228C-8947-478B-B928-9C2809C534CE}" dt="2024-10-29T09:46:20.114" v="0" actId="6549"/>
          <ac:spMkLst>
            <pc:docMk/>
            <pc:sldMk cId="381855259" sldId="25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7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553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948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49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014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338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207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521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29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7470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883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4DA23-6996-43CE-B23E-4E425A3DF55D}" type="datetimeFigureOut">
              <a:rPr lang="pt-PT" smtClean="0"/>
              <a:t>29-10-2024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440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1484784"/>
            <a:ext cx="9144000" cy="3970318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ctr"/>
            <a:r>
              <a:rPr lang="pt-PT" sz="4000" b="1" dirty="0">
                <a:solidFill>
                  <a:schemeClr val="bg1"/>
                </a:solidFill>
              </a:rPr>
              <a:t>  EMPREENDEDORISMO</a:t>
            </a:r>
          </a:p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r"/>
            <a:r>
              <a:rPr lang="pt-PT" sz="3200" b="1" dirty="0">
                <a:solidFill>
                  <a:schemeClr val="bg1"/>
                </a:solidFill>
              </a:rPr>
              <a:t>Aulas</a:t>
            </a:r>
          </a:p>
          <a:p>
            <a:pPr algn="r"/>
            <a:r>
              <a:rPr lang="pt-PT" b="1">
                <a:solidFill>
                  <a:schemeClr val="bg1"/>
                </a:solidFill>
              </a:rPr>
              <a:t>Sofia Vairinho</a:t>
            </a:r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D:\Utilizadores\jguerreiro\Pictures\GEM\logofc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35896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55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043608" y="1484784"/>
            <a:ext cx="68407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PLANO ESTRATÉGICO</a:t>
            </a:r>
          </a:p>
          <a:p>
            <a:endParaRPr lang="pt-PT" sz="3200" dirty="0"/>
          </a:p>
          <a:p>
            <a:pPr marL="514350" indent="-514350">
              <a:buAutoNum type="arabicPeriod"/>
            </a:pPr>
            <a:r>
              <a:rPr lang="pt-PT" sz="3200" dirty="0"/>
              <a:t>Objetivos</a:t>
            </a:r>
          </a:p>
          <a:p>
            <a:pPr marL="514350" indent="-514350">
              <a:buAutoNum type="arabicPeriod"/>
            </a:pPr>
            <a:endParaRPr lang="pt-PT" sz="3200" dirty="0"/>
          </a:p>
          <a:p>
            <a:pPr marL="514350" indent="-514350">
              <a:buAutoNum type="arabicPeriod"/>
            </a:pPr>
            <a:r>
              <a:rPr lang="pt-PT" sz="3200" dirty="0"/>
              <a:t>Análise externa</a:t>
            </a:r>
          </a:p>
          <a:p>
            <a:pPr marL="514350" indent="-514350">
              <a:buAutoNum type="arabicPeriod"/>
            </a:pPr>
            <a:endParaRPr lang="pt-PT" sz="3200" dirty="0"/>
          </a:p>
          <a:p>
            <a:pPr marL="514350" indent="-514350">
              <a:buAutoNum type="arabicPeriod"/>
            </a:pPr>
            <a:r>
              <a:rPr lang="pt-PT" sz="3200" dirty="0"/>
              <a:t>Plano de negócios</a:t>
            </a:r>
          </a:p>
          <a:p>
            <a:pPr marL="514350" indent="-514350">
              <a:buAutoNum type="arabicPeriod"/>
            </a:pPr>
            <a:endParaRPr lang="pt-PT" sz="3200" dirty="0"/>
          </a:p>
          <a:p>
            <a:pPr marL="514350" indent="-514350">
              <a:buAutoNum type="arabicPeriod"/>
            </a:pPr>
            <a:r>
              <a:rPr lang="pt-PT" sz="3200" dirty="0"/>
              <a:t>Análise SWOT </a:t>
            </a:r>
          </a:p>
        </p:txBody>
      </p:sp>
    </p:spTree>
    <p:extLst>
      <p:ext uri="{BB962C8B-B14F-4D97-AF65-F5344CB8AC3E}">
        <p14:creationId xmlns:p14="http://schemas.microsoft.com/office/powerpoint/2010/main" val="596357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539730" y="692696"/>
            <a:ext cx="8064896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PLANO ESTRATÉGICO</a:t>
            </a:r>
          </a:p>
          <a:p>
            <a:endParaRPr lang="pt-PT" dirty="0"/>
          </a:p>
          <a:p>
            <a:pPr marL="342900" indent="-342900">
              <a:buAutoNum type="arabicPeriod"/>
            </a:pPr>
            <a:r>
              <a:rPr lang="pt-PT" sz="2400" dirty="0"/>
              <a:t>Objetivos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Missão – objeto social da organização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Visão – objetivos a médio e longo prazo para a organização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Valores – princípios que condicionam o funcionamento quotidiano da organização</a:t>
            </a:r>
          </a:p>
          <a:p>
            <a:endParaRPr lang="pt-PT" sz="2400" dirty="0"/>
          </a:p>
          <a:p>
            <a:r>
              <a:rPr lang="pt-PT" sz="2400" dirty="0"/>
              <a:t>2. Análise externa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Consumidor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Mercado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Concorrência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Canais de distribuição</a:t>
            </a:r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Contexto</a:t>
            </a:r>
          </a:p>
          <a:p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168427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83568" y="980728"/>
            <a:ext cx="806489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2. Análise externa</a:t>
            </a:r>
          </a:p>
          <a:p>
            <a:endParaRPr lang="pt-PT" sz="2000" dirty="0"/>
          </a:p>
          <a:p>
            <a:pPr marL="285750" indent="-285750">
              <a:buFont typeface="Arial" charset="0"/>
              <a:buChar char="•"/>
            </a:pPr>
            <a:r>
              <a:rPr lang="pt-PT" dirty="0"/>
              <a:t>Consumidor: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Caracterização geral dos consumidores;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Processo de decisão para adquirir os produtos/serviços 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Áreas de residência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Estrutura etária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Rendimento familiar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Nível de escolaridade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Hábitos de consumo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Padrão de vida social</a:t>
            </a:r>
          </a:p>
          <a:p>
            <a:pPr marL="742950" lvl="1" indent="-285750">
              <a:buFont typeface="Arial" charset="0"/>
              <a:buChar char="•"/>
            </a:pPr>
            <a:endParaRPr lang="pt-PT" dirty="0"/>
          </a:p>
          <a:p>
            <a:pPr marL="285750" indent="-285750">
              <a:buFont typeface="Arial" charset="0"/>
              <a:buChar char="•"/>
            </a:pPr>
            <a:endParaRPr lang="pt-PT" dirty="0"/>
          </a:p>
          <a:p>
            <a:pPr marL="285750" indent="-285750">
              <a:buFont typeface="Arial" charset="0"/>
              <a:buChar char="•"/>
            </a:pPr>
            <a:r>
              <a:rPr lang="pt-PT" dirty="0"/>
              <a:t>Mercado: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Organização do mercado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Condicionantes do mercado (institucionais, laborais, logísticos, etc.)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Dimensão atual do mercado; dimensão potencial do mercado.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Especificidades do mercado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8889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83568" y="688405"/>
            <a:ext cx="806489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2. Análise externa (continuação)</a:t>
            </a:r>
          </a:p>
          <a:p>
            <a:pPr marL="285750" indent="-285750">
              <a:buFont typeface="Arial" charset="0"/>
              <a:buChar char="•"/>
            </a:pPr>
            <a:endParaRPr lang="pt-PT" dirty="0"/>
          </a:p>
          <a:p>
            <a:pPr marL="285750" indent="-285750">
              <a:buFont typeface="Arial" charset="0"/>
              <a:buChar char="•"/>
            </a:pPr>
            <a:r>
              <a:rPr lang="pt-PT" dirty="0"/>
              <a:t>Setor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Caracterização do setor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Identificação dos concorrentes (diretos, indiretos, potenciais)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Dimensão dos concorrentes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Como atuam no mercado (intervenção, preços, condições, etc.)</a:t>
            </a:r>
          </a:p>
          <a:p>
            <a:pPr marL="285750" indent="-285750">
              <a:buFont typeface="Arial" charset="0"/>
              <a:buChar char="•"/>
            </a:pPr>
            <a:endParaRPr lang="pt-PT" dirty="0"/>
          </a:p>
          <a:p>
            <a:pPr marL="285750" indent="-285750">
              <a:buFont typeface="Arial" charset="0"/>
              <a:buChar char="•"/>
            </a:pPr>
            <a:r>
              <a:rPr lang="pt-PT" dirty="0"/>
              <a:t>Canais de distribuição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Proximidade dos consumidores (lojas generalistas, lojas dedicadas, etc.)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Vendas pelo correio, pela internet, através de </a:t>
            </a:r>
            <a:r>
              <a:rPr lang="pt-PT" dirty="0" err="1"/>
              <a:t>drones</a:t>
            </a:r>
            <a:r>
              <a:rPr lang="pt-PT" dirty="0"/>
              <a:t>, …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Vendas porta a porta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Outras modalidades nascentes</a:t>
            </a:r>
          </a:p>
          <a:p>
            <a:pPr marL="285750" indent="-285750">
              <a:buFont typeface="Arial" charset="0"/>
              <a:buChar char="•"/>
            </a:pPr>
            <a:endParaRPr lang="pt-PT" dirty="0"/>
          </a:p>
          <a:p>
            <a:pPr marL="285750" indent="-285750">
              <a:buFont typeface="Arial" charset="0"/>
              <a:buChar char="•"/>
            </a:pPr>
            <a:r>
              <a:rPr lang="pt-PT" dirty="0"/>
              <a:t>Contexto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Ambiente natural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Aspetos políticos e legais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Aspetos económicos e sociais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Considerações tecnológicas</a:t>
            </a:r>
          </a:p>
          <a:p>
            <a:pPr marL="742950" lvl="1" indent="-285750">
              <a:buFont typeface="Arial" charset="0"/>
              <a:buChar char="•"/>
            </a:pPr>
            <a:r>
              <a:rPr lang="pt-PT" dirty="0"/>
              <a:t>Outras dificuldades ou facilidades suscitadas pelo contexto.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013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37843"/>
            <a:ext cx="7848872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u="sng" dirty="0"/>
              <a:t>3. PLANO DE NEGÓCIOS</a:t>
            </a:r>
          </a:p>
          <a:p>
            <a:endParaRPr lang="pt-PT" dirty="0"/>
          </a:p>
          <a:p>
            <a:r>
              <a:rPr lang="pt-PT" sz="2400" dirty="0"/>
              <a:t>O que justifica a sua elaboração?</a:t>
            </a:r>
          </a:p>
          <a:p>
            <a:endParaRPr lang="pt-PT" sz="2400" dirty="0"/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É um processo para desenvolver ideias sobre o modo de criar um negócio;</a:t>
            </a:r>
          </a:p>
          <a:p>
            <a:endParaRPr lang="pt-PT" sz="2400" dirty="0"/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É uma ferramenta prospetiva, que permite ir avaliando o desempenho esperado da empresa ao longo do tempo (indicadores de desempenho, …);</a:t>
            </a:r>
          </a:p>
          <a:p>
            <a:endParaRPr lang="pt-PT" sz="2400" dirty="0"/>
          </a:p>
          <a:p>
            <a:pPr marL="285750" indent="-285750">
              <a:buFont typeface="Arial" charset="0"/>
              <a:buChar char="•"/>
            </a:pPr>
            <a:r>
              <a:rPr lang="pt-PT" sz="2400" dirty="0"/>
              <a:t>É um meio de obter financiamento para concretizar o projeto.</a:t>
            </a:r>
          </a:p>
          <a:p>
            <a:pPr marL="285750" indent="-285750">
              <a:buFont typeface="Arial" charset="0"/>
              <a:buChar char="•"/>
            </a:pPr>
            <a:endParaRPr lang="pt-PT" dirty="0"/>
          </a:p>
          <a:p>
            <a:endParaRPr lang="pt-PT" dirty="0"/>
          </a:p>
        </p:txBody>
      </p:sp>
      <p:sp>
        <p:nvSpPr>
          <p:cNvPr id="3" name="CaixaDeTexto 2"/>
          <p:cNvSpPr txBox="1"/>
          <p:nvPr/>
        </p:nvSpPr>
        <p:spPr>
          <a:xfrm>
            <a:off x="4572000" y="6309320"/>
            <a:ext cx="3816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400" dirty="0"/>
              <a:t>Adaptado de: Duarte </a:t>
            </a:r>
            <a:r>
              <a:rPr lang="pt-PT" sz="1400" i="1" dirty="0" err="1"/>
              <a:t>et</a:t>
            </a:r>
            <a:r>
              <a:rPr lang="pt-PT" sz="1400" i="1" dirty="0"/>
              <a:t> al </a:t>
            </a:r>
            <a:r>
              <a:rPr lang="pt-PT" sz="1400" dirty="0"/>
              <a:t>(2014)</a:t>
            </a:r>
          </a:p>
        </p:txBody>
      </p:sp>
    </p:spTree>
    <p:extLst>
      <p:ext uri="{BB962C8B-B14F-4D97-AF65-F5344CB8AC3E}">
        <p14:creationId xmlns:p14="http://schemas.microsoft.com/office/powerpoint/2010/main" val="97046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115616" y="1412776"/>
            <a:ext cx="676875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dirty="0"/>
          </a:p>
          <a:p>
            <a:pPr marL="342900" indent="-342900">
              <a:buAutoNum type="arabicPeriod"/>
            </a:pPr>
            <a:r>
              <a:rPr lang="pt-PT" sz="2400" dirty="0"/>
              <a:t>Sumário Executivo;</a:t>
            </a:r>
          </a:p>
          <a:p>
            <a:pPr marL="342900" indent="-342900">
              <a:buAutoNum type="arabicPeriod"/>
            </a:pPr>
            <a:r>
              <a:rPr lang="pt-PT" sz="2400" dirty="0"/>
              <a:t>Antecedentes da empresa ou do empreendedor;</a:t>
            </a:r>
          </a:p>
          <a:p>
            <a:pPr marL="342900" indent="-342900">
              <a:buAutoNum type="arabicPeriod"/>
            </a:pPr>
            <a:r>
              <a:rPr lang="pt-PT" sz="2400" dirty="0"/>
              <a:t>Produtos e serviços</a:t>
            </a:r>
          </a:p>
          <a:p>
            <a:pPr marL="342900" indent="-342900">
              <a:buAutoNum type="arabicPeriod"/>
            </a:pPr>
            <a:r>
              <a:rPr lang="pt-PT" sz="2400" dirty="0"/>
              <a:t>Processo produtivo</a:t>
            </a:r>
          </a:p>
          <a:p>
            <a:pPr marL="342900" indent="-342900">
              <a:buAutoNum type="arabicPeriod"/>
            </a:pPr>
            <a:r>
              <a:rPr lang="pt-PT" sz="2400" dirty="0"/>
              <a:t>Mercado subjacente;</a:t>
            </a:r>
          </a:p>
          <a:p>
            <a:pPr marL="342900" indent="-342900">
              <a:buAutoNum type="arabicPeriod"/>
            </a:pPr>
            <a:r>
              <a:rPr lang="pt-PT" sz="2400" dirty="0"/>
              <a:t>Organização e gestão;</a:t>
            </a:r>
          </a:p>
          <a:p>
            <a:pPr marL="342900" indent="-342900">
              <a:buAutoNum type="arabicPeriod"/>
            </a:pPr>
            <a:r>
              <a:rPr lang="pt-PT" sz="2400" dirty="0"/>
              <a:t>Estudo económico e financeiro;</a:t>
            </a:r>
          </a:p>
          <a:p>
            <a:pPr marL="342900" indent="-342900">
              <a:buAutoNum type="arabicPeriod"/>
            </a:pPr>
            <a:r>
              <a:rPr lang="pt-PT" sz="2400" dirty="0"/>
              <a:t>Gestão e controlo do negócio;</a:t>
            </a:r>
          </a:p>
          <a:p>
            <a:pPr marL="342900" indent="-342900">
              <a:buAutoNum type="arabicPeriod"/>
            </a:pPr>
            <a:r>
              <a:rPr lang="pt-PT" sz="2400" dirty="0"/>
              <a:t>Investimento necessário;</a:t>
            </a:r>
          </a:p>
          <a:p>
            <a:pPr marL="342900" indent="-342900">
              <a:buAutoNum type="arabicPeriod"/>
            </a:pPr>
            <a:r>
              <a:rPr lang="pt-PT" sz="2400" dirty="0"/>
              <a:t>Financiamento. </a:t>
            </a:r>
          </a:p>
        </p:txBody>
      </p:sp>
    </p:spTree>
    <p:extLst>
      <p:ext uri="{BB962C8B-B14F-4D97-AF65-F5344CB8AC3E}">
        <p14:creationId xmlns:p14="http://schemas.microsoft.com/office/powerpoint/2010/main" val="290362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815323" y="1052736"/>
            <a:ext cx="741682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u="sng" dirty="0"/>
          </a:p>
          <a:p>
            <a:r>
              <a:rPr lang="pt-PT" sz="2400" u="sng" dirty="0"/>
              <a:t>3.1. Sumário Executivo</a:t>
            </a:r>
            <a:r>
              <a:rPr lang="pt-PT" sz="2400" dirty="0"/>
              <a:t>:</a:t>
            </a:r>
          </a:p>
          <a:p>
            <a:pPr marL="342900" indent="-342900">
              <a:buAutoNum type="arabicPeriod"/>
            </a:pPr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Capítulo que deverá ser redigido após a elaboração do Plano de Negócios;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Integra, de forma simplificada e sintética, o resumo do projeto, os seus objetivos, os resultados esperados e os meios a mobilizar;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A leitura do Sumário Executivo permite compreender melhor o Plano de Negócios;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Deverá conter uma componente financeira, no caso de se pensar na apresentação a uma entidade financiadora (banco, </a:t>
            </a:r>
            <a:r>
              <a:rPr lang="pt-PT" sz="2400" i="1" dirty="0"/>
              <a:t>business </a:t>
            </a:r>
            <a:r>
              <a:rPr lang="pt-PT" sz="2400" i="1" dirty="0" err="1"/>
              <a:t>angels</a:t>
            </a:r>
            <a:r>
              <a:rPr lang="pt-PT" sz="2400" dirty="0"/>
              <a:t>, etc.).</a:t>
            </a:r>
          </a:p>
        </p:txBody>
      </p:sp>
    </p:spTree>
    <p:extLst>
      <p:ext uri="{BB962C8B-B14F-4D97-AF65-F5344CB8AC3E}">
        <p14:creationId xmlns:p14="http://schemas.microsoft.com/office/powerpoint/2010/main" val="425245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115616" y="1412776"/>
            <a:ext cx="676875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dirty="0"/>
          </a:p>
          <a:p>
            <a:pPr marL="342900" indent="-342900">
              <a:buAutoNum type="arabicPeriod"/>
            </a:pPr>
            <a:endParaRPr lang="pt-PT" sz="2400" dirty="0"/>
          </a:p>
          <a:p>
            <a:r>
              <a:rPr lang="pt-PT" sz="2400" dirty="0"/>
              <a:t>3.2. </a:t>
            </a:r>
            <a:r>
              <a:rPr lang="pt-PT" sz="2400" u="sng" dirty="0"/>
              <a:t>Antecedentes da empresa ou do empreendedor</a:t>
            </a:r>
            <a:r>
              <a:rPr lang="pt-PT" sz="2400" dirty="0"/>
              <a:t>:</a:t>
            </a:r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Justificação da escolha da denominação;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Justificação da escolha da entidade jurídica;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Evocação da Missão;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Evocação da Visão;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Evocação dos Valores;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Justificação da escolha da localização</a:t>
            </a:r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  <a:p>
            <a:r>
              <a:rPr lang="pt-P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57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50315"/>
              </p:ext>
            </p:extLst>
          </p:nvPr>
        </p:nvGraphicFramePr>
        <p:xfrm>
          <a:off x="143507" y="692699"/>
          <a:ext cx="8856985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1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987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FORMA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SÓCIOS</a:t>
                      </a:r>
                      <a:r>
                        <a:rPr lang="pt-PT" baseline="0" dirty="0"/>
                        <a:t> (nº)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CAPITAL</a:t>
                      </a:r>
                      <a:r>
                        <a:rPr lang="pt-PT" baseline="0" dirty="0"/>
                        <a:t> MINIMO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RESPONSABILI-DADES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OBRIGAÇÕES LEGAIS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411">
                <a:tc>
                  <a:txBody>
                    <a:bodyPr/>
                    <a:lstStyle/>
                    <a:p>
                      <a:r>
                        <a:rPr lang="pt-PT" dirty="0"/>
                        <a:t>Empresário em nome 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Sem capital mínimo obrigatório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Ilimitada</a:t>
                      </a:r>
                      <a:r>
                        <a:rPr lang="pt-PT" baseline="0" dirty="0"/>
                        <a:t> – o empresário responde por todas as dívidas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IRS e todas as demais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4257">
                <a:tc>
                  <a:txBody>
                    <a:bodyPr/>
                    <a:lstStyle/>
                    <a:p>
                      <a:r>
                        <a:rPr lang="pt-PT" dirty="0"/>
                        <a:t>Estabelecimento individual de responsabilidade limitada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5.000 euros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O empresário</a:t>
                      </a:r>
                      <a:r>
                        <a:rPr lang="pt-PT" baseline="0" dirty="0"/>
                        <a:t> responde apenas com os bens afetos à atividade; se for à falência, responde com todo o património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/>
                        <a:t>IRS e todas as demais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987">
                <a:tc>
                  <a:txBody>
                    <a:bodyPr/>
                    <a:lstStyle/>
                    <a:p>
                      <a:r>
                        <a:rPr lang="pt-PT" dirty="0"/>
                        <a:t>Sociedade por quotas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1 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Limitada ao montante do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IRC e todas as demais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987">
                <a:tc>
                  <a:txBody>
                    <a:bodyPr/>
                    <a:lstStyle/>
                    <a:p>
                      <a:r>
                        <a:rPr lang="pt-PT" dirty="0"/>
                        <a:t>Sociedade por</a:t>
                      </a:r>
                      <a:r>
                        <a:rPr lang="pt-PT" baseline="0" dirty="0"/>
                        <a:t> quotas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&gt;=2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1 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Limitada ao montante do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IRC e todas as demais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2834">
                <a:tc>
                  <a:txBody>
                    <a:bodyPr/>
                    <a:lstStyle/>
                    <a:p>
                      <a:r>
                        <a:rPr lang="pt-PT" dirty="0"/>
                        <a:t>Sociedade em nome coletivo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Mínimo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Não existe montante mínimo obrigatório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Ilimitada perante a empresa e perante os credores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/>
                        <a:t>IRC e todas as demais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987">
                <a:tc>
                  <a:txBody>
                    <a:bodyPr/>
                    <a:lstStyle/>
                    <a:p>
                      <a:r>
                        <a:rPr lang="pt-PT" dirty="0"/>
                        <a:t>Sociedade anónima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Mínimo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50.000 euros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Limitada ao montante das 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IRC e todas as demais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09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115616" y="1412776"/>
            <a:ext cx="676875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dirty="0"/>
          </a:p>
          <a:p>
            <a:pPr marL="342900" indent="-342900">
              <a:buAutoNum type="arabicPeriod"/>
            </a:pPr>
            <a:endParaRPr lang="pt-PT" sz="2400" dirty="0"/>
          </a:p>
          <a:p>
            <a:r>
              <a:rPr lang="pt-PT" sz="2400" dirty="0"/>
              <a:t>3.3. </a:t>
            </a:r>
            <a:r>
              <a:rPr lang="pt-PT" sz="2400" u="sng" dirty="0"/>
              <a:t>Produtos e serviços</a:t>
            </a:r>
            <a:r>
              <a:rPr lang="pt-PT" sz="2400" dirty="0"/>
              <a:t>:</a:t>
            </a:r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Que necessidades se pretende satisfazer?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Vantagens distintas dos produtos e/ou dos serviços;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Desenvolvimento dos produtos e dos serviços, num prazo de cinco anos;</a:t>
            </a:r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  <a:p>
            <a:r>
              <a:rPr lang="pt-P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917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115616" y="1412776"/>
            <a:ext cx="676875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dirty="0"/>
          </a:p>
          <a:p>
            <a:pPr marL="342900" indent="-342900">
              <a:buAutoNum type="arabicPeriod"/>
            </a:pPr>
            <a:endParaRPr lang="pt-PT" sz="2400" dirty="0"/>
          </a:p>
          <a:p>
            <a:r>
              <a:rPr lang="pt-PT" sz="2400" dirty="0"/>
              <a:t>3.4. </a:t>
            </a:r>
            <a:r>
              <a:rPr lang="pt-PT" sz="2400" u="sng" dirty="0"/>
              <a:t>Processo produtivo</a:t>
            </a:r>
            <a:r>
              <a:rPr lang="pt-PT" sz="2400" dirty="0"/>
              <a:t>:</a:t>
            </a:r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Fornecedores;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Descrição do processo produtivo;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Equipamentos;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Manutenção;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Impacte ambiental;</a:t>
            </a:r>
          </a:p>
          <a:p>
            <a:endParaRPr lang="pt-PT" sz="2400" dirty="0"/>
          </a:p>
          <a:p>
            <a:r>
              <a:rPr lang="pt-P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3219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11560" y="908720"/>
            <a:ext cx="792088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dirty="0"/>
          </a:p>
          <a:p>
            <a:r>
              <a:rPr lang="pt-PT" sz="2400" dirty="0"/>
              <a:t>3.5. </a:t>
            </a:r>
            <a:r>
              <a:rPr lang="pt-PT" sz="2400" u="sng" dirty="0"/>
              <a:t>Mercado subjacente</a:t>
            </a:r>
            <a:r>
              <a:rPr lang="pt-PT" sz="2400" dirty="0"/>
              <a:t>;</a:t>
            </a:r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Estimativa de vendas (nº) por produto/serviço e por segmento de mercado; 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Frequência na aquisição;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Sazonalidade (tipo de produto, tipo de clientela; 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Produtos ou serviços inovadores (sem histórico);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Público-alvo e mercados-alvo;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Novidade no mercado;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Capacidade produtiva;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Taxa de crescimento (5 anos). </a:t>
            </a:r>
          </a:p>
        </p:txBody>
      </p:sp>
    </p:spTree>
    <p:extLst>
      <p:ext uri="{BB962C8B-B14F-4D97-AF65-F5344CB8AC3E}">
        <p14:creationId xmlns:p14="http://schemas.microsoft.com/office/powerpoint/2010/main" val="723489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115616" y="1412776"/>
            <a:ext cx="67687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sz="3200" dirty="0"/>
          </a:p>
          <a:p>
            <a:r>
              <a:rPr lang="pt-PT" sz="2400" dirty="0"/>
              <a:t>3.6. </a:t>
            </a:r>
            <a:r>
              <a:rPr lang="pt-PT" sz="2400" u="sng" dirty="0"/>
              <a:t>Organização e gestão</a:t>
            </a:r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Composição da equipa empreendedora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Especialização e funções adotadas/</a:t>
            </a:r>
            <a:r>
              <a:rPr lang="pt-PT" sz="2400" dirty="0" err="1"/>
              <a:t>distribuÍdas</a:t>
            </a:r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Recursos humanos são normalmente a chave do sucesso de uma iniciativa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Necessidades de formação</a:t>
            </a:r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346571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95536" y="764704"/>
            <a:ext cx="849694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sz="2000" dirty="0"/>
          </a:p>
          <a:p>
            <a:r>
              <a:rPr lang="pt-PT" sz="2000" dirty="0"/>
              <a:t>3.7. </a:t>
            </a:r>
            <a:r>
              <a:rPr lang="pt-PT" sz="2000" u="sng" dirty="0"/>
              <a:t>Estudo económico e financeiro</a:t>
            </a:r>
            <a:r>
              <a:rPr lang="pt-PT" sz="2000" dirty="0"/>
              <a:t>:</a:t>
            </a:r>
          </a:p>
          <a:p>
            <a:endParaRPr lang="pt-PT" sz="2000" dirty="0"/>
          </a:p>
          <a:p>
            <a:pPr marL="342900" indent="-342900">
              <a:buFont typeface="Arial" charset="0"/>
              <a:buChar char="•"/>
            </a:pPr>
            <a:r>
              <a:rPr lang="pt-PT" sz="2000" dirty="0"/>
              <a:t>Vendas: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000" dirty="0"/>
              <a:t>Produtos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000" dirty="0"/>
              <a:t>Serviços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000" dirty="0"/>
              <a:t>Compras: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000" dirty="0"/>
              <a:t>Consumo intermédio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000" dirty="0"/>
              <a:t>Outros gastos variáveis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000" dirty="0"/>
              <a:t>Margem bruta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000" dirty="0"/>
              <a:t>Margem bruta = Vendas – compras (</a:t>
            </a:r>
            <a:r>
              <a:rPr lang="pt-PT" sz="2000" b="1" dirty="0"/>
              <a:t>A</a:t>
            </a:r>
            <a:r>
              <a:rPr lang="pt-PT" sz="2000" dirty="0"/>
              <a:t>500-150*12=350; 4200); (</a:t>
            </a:r>
            <a:r>
              <a:rPr lang="pt-PT" sz="2000" b="1" dirty="0"/>
              <a:t>B</a:t>
            </a:r>
            <a:r>
              <a:rPr lang="pt-PT" sz="2000" dirty="0"/>
              <a:t>1500-150*12=1350;16200)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000" dirty="0"/>
              <a:t>Lucros antes de juros, impostos, depreciação e amortização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000" dirty="0"/>
              <a:t>LAJIDA* = Margem bruta – (gastos fixos + gastos c/ pessoal)(</a:t>
            </a:r>
            <a:r>
              <a:rPr lang="pt-PT" sz="2000" b="1" dirty="0"/>
              <a:t>A</a:t>
            </a:r>
            <a:r>
              <a:rPr lang="pt-PT" sz="2000" dirty="0"/>
              <a:t>350-100=€250; 4200(MB)-1200=</a:t>
            </a:r>
            <a:r>
              <a:rPr lang="pt-PT" sz="2000" b="1" dirty="0"/>
              <a:t>€3200</a:t>
            </a:r>
            <a:r>
              <a:rPr lang="pt-PT" sz="2000" dirty="0"/>
              <a:t>) (</a:t>
            </a:r>
            <a:r>
              <a:rPr lang="pt-PT" sz="2000" b="1" dirty="0"/>
              <a:t>B</a:t>
            </a:r>
            <a:r>
              <a:rPr lang="pt-PT" sz="2000" dirty="0"/>
              <a:t>1350-100-630=€620; 16200(MB)-(730*12=)8760=</a:t>
            </a:r>
            <a:r>
              <a:rPr lang="pt-PT" sz="2000" b="1" dirty="0"/>
              <a:t>€7440,00</a:t>
            </a:r>
          </a:p>
          <a:p>
            <a:r>
              <a:rPr lang="pt-PT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Amazon – Margem de Lucro 17%; </a:t>
            </a:r>
            <a:r>
              <a:rPr lang="pt-PT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Farfetch</a:t>
            </a:r>
            <a:r>
              <a:rPr lang="pt-PT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– Margem de Lucro 25%</a:t>
            </a:r>
          </a:p>
          <a:p>
            <a:r>
              <a:rPr lang="pt-PT" sz="2400" dirty="0"/>
              <a:t>* </a:t>
            </a:r>
            <a:r>
              <a:rPr lang="pt-PT" sz="1600" dirty="0"/>
              <a:t>EBITDA – </a:t>
            </a:r>
            <a:r>
              <a:rPr lang="pt-PT" sz="1600" dirty="0" err="1"/>
              <a:t>Earnings</a:t>
            </a:r>
            <a:r>
              <a:rPr lang="pt-PT" sz="1600" dirty="0"/>
              <a:t> </a:t>
            </a:r>
            <a:r>
              <a:rPr lang="pt-PT" sz="1600" dirty="0" err="1"/>
              <a:t>before</a:t>
            </a:r>
            <a:r>
              <a:rPr lang="pt-PT" sz="1600" dirty="0"/>
              <a:t> </a:t>
            </a:r>
            <a:r>
              <a:rPr lang="pt-PT" sz="1600" dirty="0" err="1"/>
              <a:t>interest</a:t>
            </a:r>
            <a:r>
              <a:rPr lang="pt-PT" sz="1600" dirty="0"/>
              <a:t>, taxes, </a:t>
            </a:r>
            <a:r>
              <a:rPr lang="pt-PT" sz="1600" dirty="0" err="1"/>
              <a:t>depreciation</a:t>
            </a:r>
            <a:r>
              <a:rPr lang="pt-PT" sz="1600" dirty="0"/>
              <a:t> </a:t>
            </a:r>
            <a:r>
              <a:rPr lang="pt-PT" sz="1600" dirty="0" err="1"/>
              <a:t>and</a:t>
            </a:r>
            <a:r>
              <a:rPr lang="pt-PT" sz="1600" dirty="0"/>
              <a:t> </a:t>
            </a:r>
            <a:r>
              <a:rPr lang="pt-PT" sz="1600" dirty="0" err="1"/>
              <a:t>amortization</a:t>
            </a:r>
            <a:r>
              <a:rPr lang="pt-PT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9665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95536" y="764704"/>
            <a:ext cx="849694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(continuação):</a:t>
            </a:r>
          </a:p>
          <a:p>
            <a:endParaRPr lang="pt-PT" sz="2400" dirty="0"/>
          </a:p>
          <a:p>
            <a:r>
              <a:rPr lang="pt-PT" sz="2400" dirty="0"/>
              <a:t>3.7. </a:t>
            </a:r>
            <a:r>
              <a:rPr lang="pt-PT" sz="2400" u="sng" dirty="0"/>
              <a:t>Estudo económico e financeiro (continuação)</a:t>
            </a:r>
            <a:r>
              <a:rPr lang="pt-PT" sz="2400" dirty="0"/>
              <a:t>:</a:t>
            </a:r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Período: cinco (5) anos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400" dirty="0"/>
              <a:t>Produtos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400" dirty="0"/>
              <a:t>Prestações de serviços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Taxas de crescimento: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400" dirty="0"/>
              <a:t>Preço das compras (consumos intermédios e outros gastos variáveis);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400" dirty="0"/>
              <a:t>Preço das vendas (produtos ou serviços)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400" dirty="0"/>
              <a:t>Custos de pessoal 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Equipamento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400" dirty="0"/>
              <a:t>Preço de aquisição do equipamento</a:t>
            </a:r>
          </a:p>
          <a:p>
            <a:pPr marL="800100" lvl="1" indent="-342900">
              <a:buFont typeface="Arial" charset="0"/>
              <a:buChar char="•"/>
            </a:pPr>
            <a:r>
              <a:rPr lang="pt-PT" sz="2400" dirty="0"/>
              <a:t>Amortização (5 a 10 anos de vida útil)</a:t>
            </a:r>
          </a:p>
        </p:txBody>
      </p:sp>
    </p:spTree>
    <p:extLst>
      <p:ext uri="{BB962C8B-B14F-4D97-AF65-F5344CB8AC3E}">
        <p14:creationId xmlns:p14="http://schemas.microsoft.com/office/powerpoint/2010/main" val="115194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115616" y="1412776"/>
            <a:ext cx="676875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3. PLANO DE NEGÓCIOS (continuação)</a:t>
            </a:r>
          </a:p>
          <a:p>
            <a:endParaRPr lang="pt-PT" sz="3200" dirty="0"/>
          </a:p>
          <a:p>
            <a:r>
              <a:rPr lang="pt-PT" sz="2400" dirty="0"/>
              <a:t>3.8. Planeamento e gestão do negócio</a:t>
            </a:r>
          </a:p>
          <a:p>
            <a:endParaRPr lang="pt-PT" sz="2400" u="sng" dirty="0"/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Perspetivas de expansão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Riscos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Incorporação de outras atividades</a:t>
            </a:r>
          </a:p>
          <a:p>
            <a:pPr marL="342900" indent="-342900">
              <a:buFont typeface="Arial" charset="0"/>
              <a:buChar char="•"/>
            </a:pPr>
            <a:r>
              <a:rPr lang="pt-PT" sz="2400" dirty="0"/>
              <a:t>Internacionalização</a:t>
            </a:r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  <a:p>
            <a:endParaRPr lang="pt-PT" sz="2400" dirty="0"/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  <a:p>
            <a:pPr marL="342900" indent="-342900">
              <a:buFont typeface="Arial" charset="0"/>
              <a:buChar char="•"/>
            </a:pP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3523113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971911"/>
              </p:ext>
            </p:extLst>
          </p:nvPr>
        </p:nvGraphicFramePr>
        <p:xfrm>
          <a:off x="0" y="419350"/>
          <a:ext cx="9144000" cy="6331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7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76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606"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68">
                <a:tc>
                  <a:txBody>
                    <a:bodyPr/>
                    <a:lstStyle/>
                    <a:p>
                      <a:pPr algn="l"/>
                      <a:r>
                        <a:rPr lang="pt-PT" sz="2000" dirty="0"/>
                        <a:t>Venda de Produtos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68">
                <a:tc>
                  <a:txBody>
                    <a:bodyPr/>
                    <a:lstStyle/>
                    <a:p>
                      <a:pPr algn="l"/>
                      <a:r>
                        <a:rPr lang="pt-PT" sz="2000" dirty="0"/>
                        <a:t>Venda de Serviços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68">
                <a:tc>
                  <a:txBody>
                    <a:bodyPr/>
                    <a:lstStyle/>
                    <a:p>
                      <a:pPr algn="l"/>
                      <a:r>
                        <a:rPr lang="pt-PT" sz="2000" dirty="0"/>
                        <a:t>VOLUME DE NEGÓCIOS (A+B)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l"/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68">
                <a:tc>
                  <a:txBody>
                    <a:bodyPr/>
                    <a:lstStyle/>
                    <a:p>
                      <a:r>
                        <a:rPr lang="pt-PT" sz="2000" dirty="0"/>
                        <a:t>Consumo intermédio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268">
                <a:tc>
                  <a:txBody>
                    <a:bodyPr/>
                    <a:lstStyle/>
                    <a:p>
                      <a:r>
                        <a:rPr lang="pt-PT" sz="2000" dirty="0"/>
                        <a:t>Outros gastos variáveis 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2519">
                <a:tc>
                  <a:txBody>
                    <a:bodyPr/>
                    <a:lstStyle/>
                    <a:p>
                      <a:r>
                        <a:rPr lang="pt-PT" sz="2000" dirty="0"/>
                        <a:t>GASTOS COM A ATIVIDADE (C+D)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984"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268">
                <a:tc>
                  <a:txBody>
                    <a:bodyPr/>
                    <a:lstStyle/>
                    <a:p>
                      <a:r>
                        <a:rPr lang="pt-PT" sz="2000" dirty="0"/>
                        <a:t>Margem bruta (A+B-C-D)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749"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268">
                <a:tc>
                  <a:txBody>
                    <a:bodyPr/>
                    <a:lstStyle/>
                    <a:p>
                      <a:r>
                        <a:rPr lang="pt-PT" sz="2000" dirty="0"/>
                        <a:t>Gastos com  pessoal 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201"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42606">
                <a:tc>
                  <a:txBody>
                    <a:bodyPr/>
                    <a:lstStyle/>
                    <a:p>
                      <a:r>
                        <a:rPr lang="pt-PT" sz="2000" dirty="0"/>
                        <a:t>Lucros</a:t>
                      </a:r>
                      <a:r>
                        <a:rPr lang="pt-PT" sz="2000" baseline="0" dirty="0"/>
                        <a:t> antes dos juros, impostos, amortizações e depreciações (A+B-C-D-E)</a:t>
                      </a:r>
                      <a:endParaRPr lang="pt-PT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597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FACULDADE DE CIÊNCIAS E TECNOLOGIA -  EMPREENDEDORISMO</a:t>
            </a:r>
          </a:p>
        </p:txBody>
      </p:sp>
      <p:pic>
        <p:nvPicPr>
          <p:cNvPr id="4098" name="Picture 2" descr="G:\SWOT\Análise SWOT (Matriz) - Conceito e aplicação  Portal Administração_ficheiros\tabela-anÃ¡lise-swo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628800"/>
            <a:ext cx="6840760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187624" y="620688"/>
            <a:ext cx="6840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4. Análise SWOT</a:t>
            </a:r>
          </a:p>
        </p:txBody>
      </p:sp>
    </p:spTree>
    <p:extLst>
      <p:ext uri="{BB962C8B-B14F-4D97-AF65-F5344CB8AC3E}">
        <p14:creationId xmlns:p14="http://schemas.microsoft.com/office/powerpoint/2010/main" val="3088705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Microsoft Office PowerPoint</Application>
  <PresentationFormat>Apresentação no Ecrã (4:3)</PresentationFormat>
  <Paragraphs>263</Paragraphs>
  <Slides>19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2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Sofia Vairinho</cp:lastModifiedBy>
  <cp:revision>76</cp:revision>
  <cp:lastPrinted>2016-10-06T20:49:37Z</cp:lastPrinted>
  <dcterms:created xsi:type="dcterms:W3CDTF">2016-09-15T23:51:56Z</dcterms:created>
  <dcterms:modified xsi:type="dcterms:W3CDTF">2024-10-29T09:46:23Z</dcterms:modified>
</cp:coreProperties>
</file>