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32" r:id="rId3"/>
    <p:sldId id="291" r:id="rId4"/>
    <p:sldId id="311" r:id="rId5"/>
    <p:sldId id="333" r:id="rId6"/>
    <p:sldId id="312" r:id="rId7"/>
    <p:sldId id="324" r:id="rId8"/>
    <p:sldId id="285" r:id="rId9"/>
    <p:sldId id="315" r:id="rId10"/>
    <p:sldId id="316" r:id="rId11"/>
    <p:sldId id="330" r:id="rId12"/>
    <p:sldId id="331" r:id="rId13"/>
    <p:sldId id="317" r:id="rId14"/>
    <p:sldId id="318" r:id="rId15"/>
    <p:sldId id="334" r:id="rId16"/>
  </p:sldIdLst>
  <p:sldSz cx="9144000" cy="6858000" type="screen4x3"/>
  <p:notesSz cx="6881813" cy="100028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8D51BA07-F7D7-4808-B8DD-B4FEADD5A664}">
          <p14:sldIdLst>
            <p14:sldId id="258"/>
            <p14:sldId id="332"/>
            <p14:sldId id="291"/>
            <p14:sldId id="311"/>
            <p14:sldId id="333"/>
            <p14:sldId id="312"/>
            <p14:sldId id="324"/>
            <p14:sldId id="285"/>
            <p14:sldId id="315"/>
            <p14:sldId id="316"/>
            <p14:sldId id="330"/>
            <p14:sldId id="331"/>
            <p14:sldId id="317"/>
            <p14:sldId id="318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7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553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48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49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014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33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207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521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9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747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883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4DA23-6996-43CE-B23E-4E425A3DF55D}" type="datetimeFigureOut">
              <a:rPr lang="pt-PT" smtClean="0"/>
              <a:t>14/01/2022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9B377-E4A6-440C-B08E-EC05422861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40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1484784"/>
            <a:ext cx="9144000" cy="3970318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 smtClean="0">
              <a:solidFill>
                <a:schemeClr val="bg1"/>
              </a:solidFill>
            </a:endParaRPr>
          </a:p>
          <a:p>
            <a:pPr algn="ctr"/>
            <a:r>
              <a:rPr lang="pt-PT" sz="4000" b="1" dirty="0" smtClean="0">
                <a:solidFill>
                  <a:schemeClr val="bg1"/>
                </a:solidFill>
              </a:rPr>
              <a:t>  EMPREENDEDORISMO</a:t>
            </a:r>
          </a:p>
          <a:p>
            <a:pPr algn="ctr"/>
            <a:endParaRPr lang="pt-PT" sz="4000" b="1" dirty="0">
              <a:solidFill>
                <a:schemeClr val="bg1"/>
              </a:solidFill>
            </a:endParaRPr>
          </a:p>
          <a:p>
            <a:pPr algn="ctr"/>
            <a:endParaRPr lang="pt-PT" sz="4000" b="1" dirty="0" smtClean="0">
              <a:solidFill>
                <a:schemeClr val="bg1"/>
              </a:solidFill>
            </a:endParaRPr>
          </a:p>
          <a:p>
            <a:pPr algn="r"/>
            <a:r>
              <a:rPr lang="pt-PT" sz="3200" b="1" dirty="0" smtClean="0">
                <a:solidFill>
                  <a:schemeClr val="bg1"/>
                </a:solidFill>
              </a:rPr>
              <a:t>Aulas</a:t>
            </a:r>
            <a:endParaRPr lang="pt-PT" sz="3200" b="1" dirty="0">
              <a:solidFill>
                <a:schemeClr val="bg1"/>
              </a:solidFill>
            </a:endParaRPr>
          </a:p>
          <a:p>
            <a:pPr algn="r"/>
            <a:r>
              <a:rPr lang="pt-PT" b="1" dirty="0" smtClean="0">
                <a:solidFill>
                  <a:schemeClr val="bg1"/>
                </a:solidFill>
              </a:rPr>
              <a:t>Sofia Vairinho (Faculdade de Economia)</a:t>
            </a:r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Utilizadores\jguerreiro\Pictures\GEM\logofc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5896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5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43608" y="1484784"/>
            <a:ext cx="68407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 smtClean="0"/>
              <a:t>Os 9 elementos do </a:t>
            </a:r>
          </a:p>
          <a:p>
            <a:pPr algn="ctr"/>
            <a:endParaRPr lang="pt-PT" sz="3200" b="1" dirty="0"/>
          </a:p>
          <a:p>
            <a:pPr algn="ctr"/>
            <a:r>
              <a:rPr lang="pt-PT" sz="3200" b="1" dirty="0" smtClean="0"/>
              <a:t>Modelo de Negócios CANVAS</a:t>
            </a:r>
          </a:p>
          <a:p>
            <a:endParaRPr lang="pt-PT" sz="3200" dirty="0"/>
          </a:p>
          <a:p>
            <a:r>
              <a:rPr lang="pt-PT" sz="3200" dirty="0"/>
              <a:t> </a:t>
            </a:r>
            <a:r>
              <a:rPr lang="pt-PT" sz="3200" i="1" dirty="0" err="1"/>
              <a:t>Alexander</a:t>
            </a:r>
            <a:r>
              <a:rPr lang="pt-PT" sz="3200" i="1" dirty="0"/>
              <a:t> </a:t>
            </a:r>
            <a:r>
              <a:rPr lang="pt-PT" sz="3200" i="1" dirty="0" err="1"/>
              <a:t>Osterwalder</a:t>
            </a:r>
            <a:endParaRPr lang="pt-PT" sz="3200" i="1" dirty="0"/>
          </a:p>
        </p:txBody>
      </p:sp>
    </p:spTree>
    <p:extLst>
      <p:ext uri="{BB962C8B-B14F-4D97-AF65-F5344CB8AC3E}">
        <p14:creationId xmlns:p14="http://schemas.microsoft.com/office/powerpoint/2010/main" val="59635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9730" y="692696"/>
            <a:ext cx="806489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/>
              <a:t>O </a:t>
            </a:r>
            <a:r>
              <a:rPr lang="pt-PT" sz="2400" b="1" u="sng" dirty="0" smtClean="0"/>
              <a:t>Modelo de Negócios </a:t>
            </a:r>
            <a:r>
              <a:rPr lang="pt-PT" sz="2400" b="1" u="sng" dirty="0" err="1" smtClean="0"/>
              <a:t>Canvas</a:t>
            </a:r>
            <a:r>
              <a:rPr lang="pt-PT" sz="2400" b="1" u="sng" dirty="0" smtClean="0"/>
              <a:t> </a:t>
            </a:r>
            <a:r>
              <a:rPr lang="pt-PT" sz="2400" dirty="0"/>
              <a:t>é uma ferramenta </a:t>
            </a:r>
            <a:r>
              <a:rPr lang="pt-PT" sz="2400" b="1" dirty="0"/>
              <a:t>prática</a:t>
            </a:r>
            <a:r>
              <a:rPr lang="pt-PT" sz="2400" dirty="0"/>
              <a:t> e </a:t>
            </a:r>
            <a:r>
              <a:rPr lang="pt-PT" sz="2400" b="1" dirty="0"/>
              <a:t>versátil</a:t>
            </a:r>
            <a:r>
              <a:rPr lang="pt-PT" sz="2400" dirty="0"/>
              <a:t> que nos permitir </a:t>
            </a:r>
            <a:r>
              <a:rPr lang="pt-PT" sz="2400" dirty="0" smtClean="0"/>
              <a:t>visualizar todos </a:t>
            </a:r>
            <a:r>
              <a:rPr lang="pt-PT" sz="2400" dirty="0"/>
              <a:t>os aspetos fundamentais de um modelo de negócios numa única folha.</a:t>
            </a:r>
          </a:p>
          <a:p>
            <a:r>
              <a:rPr lang="pt-PT" sz="2400" dirty="0"/>
              <a:t> </a:t>
            </a:r>
          </a:p>
          <a:p>
            <a:r>
              <a:rPr lang="pt-PT" sz="2400" b="1" dirty="0"/>
              <a:t>Quem pode usar o </a:t>
            </a:r>
            <a:r>
              <a:rPr lang="pt-PT" sz="2400" b="1" i="1" dirty="0" err="1"/>
              <a:t>Canvas</a:t>
            </a:r>
            <a:r>
              <a:rPr lang="pt-PT" sz="2400" b="1" dirty="0"/>
              <a:t> e qual é o seu objetivo?</a:t>
            </a:r>
          </a:p>
          <a:p>
            <a:r>
              <a:rPr lang="pt-PT" sz="2400" dirty="0"/>
              <a:t>É uma ferramenta para </a:t>
            </a:r>
            <a:r>
              <a:rPr lang="pt-PT" sz="2400" b="1" dirty="0"/>
              <a:t>visionários</a:t>
            </a:r>
            <a:r>
              <a:rPr lang="pt-PT" sz="2400" dirty="0"/>
              <a:t>, </a:t>
            </a:r>
            <a:r>
              <a:rPr lang="pt-PT" sz="2400" b="1" i="1" dirty="0"/>
              <a:t>“game </a:t>
            </a:r>
            <a:r>
              <a:rPr lang="pt-PT" sz="2400" b="1" i="1" dirty="0" err="1"/>
              <a:t>changers</a:t>
            </a:r>
            <a:r>
              <a:rPr lang="pt-PT" sz="2400" b="1" i="1" dirty="0"/>
              <a:t>”</a:t>
            </a:r>
            <a:r>
              <a:rPr lang="pt-PT" sz="2400" i="1" dirty="0"/>
              <a:t>, </a:t>
            </a:r>
            <a:r>
              <a:rPr lang="pt-PT" sz="2400" dirty="0"/>
              <a:t>pessoas que alteram as regras do jogo e que gostam de desafiar os modelos de negócio desatualizados, configurando as empresas do futuro.</a:t>
            </a:r>
          </a:p>
          <a:p>
            <a:r>
              <a:rPr lang="pt-PT" sz="2400" dirty="0"/>
              <a:t>Este método é aplicado nas principais </a:t>
            </a:r>
            <a:r>
              <a:rPr lang="pt-PT" sz="2400" b="1" dirty="0" smtClean="0"/>
              <a:t>organizações ou empresas</a:t>
            </a:r>
            <a:r>
              <a:rPr lang="pt-PT" sz="2400" dirty="0" smtClean="0"/>
              <a:t> </a:t>
            </a:r>
            <a:r>
              <a:rPr lang="pt-PT" sz="2400" i="1" dirty="0"/>
              <a:t>(que querem inovar </a:t>
            </a:r>
            <a:r>
              <a:rPr lang="pt-PT" sz="2400" i="1" dirty="0" smtClean="0"/>
              <a:t>no </a:t>
            </a:r>
            <a:r>
              <a:rPr lang="pt-PT" sz="2400" i="1" dirty="0"/>
              <a:t>seu modelo de negócio </a:t>
            </a:r>
            <a:r>
              <a:rPr lang="pt-PT" sz="2400" i="1" dirty="0" smtClean="0"/>
              <a:t>diferenciar-se </a:t>
            </a:r>
            <a:r>
              <a:rPr lang="pt-PT" sz="2400" i="1" dirty="0"/>
              <a:t>da concorrência, lançar um produto novo ou entrar em novos mercados, por exemplo</a:t>
            </a:r>
            <a:r>
              <a:rPr lang="pt-PT" sz="2400" dirty="0"/>
              <a:t>) e </a:t>
            </a:r>
            <a:r>
              <a:rPr lang="pt-PT" sz="2400" b="1" i="1" dirty="0" err="1"/>
              <a:t>start-ups</a:t>
            </a:r>
            <a:r>
              <a:rPr lang="pt-PT" sz="2400" b="1" i="1" dirty="0"/>
              <a:t> </a:t>
            </a:r>
            <a:r>
              <a:rPr lang="pt-PT" sz="2400" i="1" dirty="0"/>
              <a:t>(para definição do seu modelo de negócio)</a:t>
            </a:r>
            <a:r>
              <a:rPr lang="pt-PT" sz="2400" dirty="0"/>
              <a:t> em todo o mundo.</a:t>
            </a:r>
          </a:p>
          <a:p>
            <a:endParaRPr lang="pt-PT" sz="2400" dirty="0" smtClean="0"/>
          </a:p>
        </p:txBody>
      </p:sp>
    </p:spTree>
    <p:extLst>
      <p:ext uri="{BB962C8B-B14F-4D97-AF65-F5344CB8AC3E}">
        <p14:creationId xmlns:p14="http://schemas.microsoft.com/office/powerpoint/2010/main" val="168427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980728"/>
            <a:ext cx="80648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 smtClean="0"/>
              <a:t>Análise externa</a:t>
            </a:r>
          </a:p>
          <a:p>
            <a:endParaRPr lang="pt-PT" sz="2000" dirty="0"/>
          </a:p>
          <a:p>
            <a:endParaRPr lang="pt-PT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33" y="2348880"/>
            <a:ext cx="6366934" cy="345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9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131"/>
            <a:ext cx="9144000" cy="60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2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688405"/>
            <a:ext cx="806489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u="sng" dirty="0" smtClean="0"/>
              <a:t>1 - Segmento </a:t>
            </a:r>
            <a:r>
              <a:rPr lang="pt-PT" sz="3200" b="1" u="sng" dirty="0"/>
              <a:t>de Clientes</a:t>
            </a:r>
          </a:p>
          <a:p>
            <a:endParaRPr lang="pt-PT" sz="3200" dirty="0"/>
          </a:p>
          <a:p>
            <a:endParaRPr lang="pt-PT" sz="3200" dirty="0"/>
          </a:p>
          <a:p>
            <a:r>
              <a:rPr lang="pt-PT" sz="3200" dirty="0"/>
              <a:t>– Para quem estamos a criar valor?</a:t>
            </a:r>
          </a:p>
          <a:p>
            <a:r>
              <a:rPr lang="pt-PT" sz="3200" dirty="0"/>
              <a:t>– Quem são os nossos clientes mais importantes?</a:t>
            </a:r>
          </a:p>
          <a:p>
            <a:endParaRPr lang="pt-PT" sz="3200" dirty="0"/>
          </a:p>
          <a:p>
            <a:r>
              <a:rPr lang="pt-PT" sz="3200" dirty="0"/>
              <a:t>O componente Segmentos de Clientes define os diferentes grupos de pessoas ou organizações que uma empresa visa alcançar e servir. Normalmente um modelo de negócios poderá ter um ou vários segmentos.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013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1037843"/>
            <a:ext cx="784887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u="sng" dirty="0" smtClean="0"/>
              <a:t>2 - Proposta </a:t>
            </a:r>
            <a:r>
              <a:rPr lang="pt-PT" sz="2800" b="1" u="sng" dirty="0"/>
              <a:t>de Valor</a:t>
            </a:r>
          </a:p>
          <a:p>
            <a:endParaRPr lang="pt-PT" sz="2800" u="sng" dirty="0"/>
          </a:p>
          <a:p>
            <a:r>
              <a:rPr lang="pt-PT" sz="2800" dirty="0" smtClean="0"/>
              <a:t>– </a:t>
            </a:r>
            <a:r>
              <a:rPr lang="pt-PT" sz="2800" dirty="0"/>
              <a:t>Que valor entregamos aos clientes?</a:t>
            </a:r>
          </a:p>
          <a:p>
            <a:r>
              <a:rPr lang="pt-PT" sz="2800" dirty="0"/>
              <a:t>– De entre os problemas dos nossos clientes, qual é o que estamos a ajudar a resolver? </a:t>
            </a:r>
            <a:endParaRPr lang="pt-PT" sz="2800" dirty="0" smtClean="0"/>
          </a:p>
          <a:p>
            <a:r>
              <a:rPr lang="pt-PT" sz="2800" dirty="0" smtClean="0"/>
              <a:t>– </a:t>
            </a:r>
            <a:r>
              <a:rPr lang="pt-PT" sz="2800" dirty="0"/>
              <a:t>Que necessidades dos clientes estamos a </a:t>
            </a:r>
            <a:r>
              <a:rPr lang="pt-PT" sz="2800" dirty="0" smtClean="0"/>
              <a:t>satisfazer?</a:t>
            </a:r>
            <a:endParaRPr lang="pt-PT" sz="2800" dirty="0"/>
          </a:p>
          <a:p>
            <a:r>
              <a:rPr lang="pt-PT" sz="2800" dirty="0"/>
              <a:t>– Que pacote de produtos e serviços estamos a oferecer a cada segmento de clientes?</a:t>
            </a:r>
          </a:p>
          <a:p>
            <a:endParaRPr lang="pt-PT" sz="2800" dirty="0"/>
          </a:p>
          <a:p>
            <a:r>
              <a:rPr lang="pt-PT" sz="2800" dirty="0"/>
              <a:t>A proposta de valor é o motivo pelo qual os clientes vão escolher comprar na nossa empresa e não num concorrente. A proposta de valor deve ser inovadora</a:t>
            </a:r>
            <a:r>
              <a:rPr lang="pt-PT" sz="2800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46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23271" y="476672"/>
            <a:ext cx="89289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u="sng" dirty="0"/>
              <a:t>3</a:t>
            </a:r>
            <a:r>
              <a:rPr lang="pt-PT" sz="2400" b="1" u="sng" dirty="0" smtClean="0"/>
              <a:t> </a:t>
            </a:r>
            <a:r>
              <a:rPr lang="pt-PT" sz="2400" b="1" u="sng" dirty="0" smtClean="0"/>
              <a:t>- Canais</a:t>
            </a:r>
            <a:endParaRPr lang="pt-PT" sz="2400" b="1" u="sng" dirty="0"/>
          </a:p>
          <a:p>
            <a:endParaRPr lang="pt-PT" sz="2400" dirty="0"/>
          </a:p>
          <a:p>
            <a:r>
              <a:rPr lang="pt-PT" sz="2400" dirty="0"/>
              <a:t>– Através de que canais é que os nossos Segmentos de Clientes querem ser contatados?</a:t>
            </a:r>
          </a:p>
          <a:p>
            <a:r>
              <a:rPr lang="pt-PT" sz="2400" dirty="0"/>
              <a:t>– Como é que </a:t>
            </a:r>
            <a:r>
              <a:rPr lang="pt-PT" sz="2400" dirty="0" smtClean="0"/>
              <a:t>estamos a </a:t>
            </a:r>
            <a:r>
              <a:rPr lang="pt-PT" sz="2400" dirty="0"/>
              <a:t>contactar agora?</a:t>
            </a:r>
          </a:p>
          <a:p>
            <a:r>
              <a:rPr lang="pt-PT" sz="2400" dirty="0"/>
              <a:t>– Como é que os nossos canais são integrados?</a:t>
            </a:r>
          </a:p>
          <a:p>
            <a:r>
              <a:rPr lang="pt-PT" sz="2400" dirty="0"/>
              <a:t>– Quais são os que funcionam melhor?</a:t>
            </a:r>
          </a:p>
          <a:p>
            <a:r>
              <a:rPr lang="pt-PT" sz="2400" dirty="0"/>
              <a:t>– Quais são os mais eficientes do ponto de vista dos custos?</a:t>
            </a:r>
          </a:p>
          <a:p>
            <a:r>
              <a:rPr lang="pt-PT" sz="2400" dirty="0"/>
              <a:t>– Como é que estamos a integrar com as rotinas dos clientes?</a:t>
            </a:r>
          </a:p>
          <a:p>
            <a:endParaRPr lang="pt-PT" sz="2400" dirty="0"/>
          </a:p>
          <a:p>
            <a:r>
              <a:rPr lang="pt-PT" sz="2400" dirty="0"/>
              <a:t>Já sabemos quem é o nosso cliente e qual o valor que estamos a entregar, agora precisamos de saber como fazer. Os canais dizem respeito aos pontos de contacto da organização com os nossos clientes e são compostos basicamente por canais de comunicação, distribuição e venda.</a:t>
            </a:r>
          </a:p>
        </p:txBody>
      </p:sp>
    </p:spTree>
    <p:extLst>
      <p:ext uri="{BB962C8B-B14F-4D97-AF65-F5344CB8AC3E}">
        <p14:creationId xmlns:p14="http://schemas.microsoft.com/office/powerpoint/2010/main" val="29036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15323" y="1052736"/>
            <a:ext cx="74168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u="sng" dirty="0" smtClean="0"/>
              <a:t>5 - Fluxo </a:t>
            </a:r>
            <a:r>
              <a:rPr lang="pt-PT" sz="2400" b="1" u="sng" dirty="0"/>
              <a:t>de Rendimento</a:t>
            </a:r>
          </a:p>
          <a:p>
            <a:endParaRPr lang="pt-PT" sz="2400" dirty="0"/>
          </a:p>
          <a:p>
            <a:r>
              <a:rPr lang="pt-PT" sz="2400" dirty="0" smtClean="0"/>
              <a:t>– </a:t>
            </a:r>
            <a:r>
              <a:rPr lang="pt-PT" sz="2400" dirty="0"/>
              <a:t>Por que valor estão os nossos clientes realmente dispostos a pagar?</a:t>
            </a:r>
          </a:p>
          <a:p>
            <a:r>
              <a:rPr lang="pt-PT" sz="2400" dirty="0"/>
              <a:t>– Estão a pagar pelo quê agora?</a:t>
            </a:r>
          </a:p>
          <a:p>
            <a:r>
              <a:rPr lang="pt-PT" sz="2400" dirty="0"/>
              <a:t>– Como é que estão a pagar? Como é que prefeririam pagar?</a:t>
            </a:r>
          </a:p>
          <a:p>
            <a:r>
              <a:rPr lang="pt-PT" sz="2400" dirty="0"/>
              <a:t>– Quanto é que cada Fluxo de Rendimento contribui para o rendimento global?</a:t>
            </a:r>
          </a:p>
          <a:p>
            <a:endParaRPr lang="pt-PT" sz="2400" dirty="0"/>
          </a:p>
          <a:p>
            <a:r>
              <a:rPr lang="pt-PT" sz="2400" dirty="0"/>
              <a:t>A fonte de receita representa o dinheiro que nossa empresa gera a partir de cada segmento de cliente. Dependendo do nosso modelo de negócios, ele pode ter uma ou mais fontes de receita.</a:t>
            </a:r>
          </a:p>
        </p:txBody>
      </p:sp>
    </p:spTree>
    <p:extLst>
      <p:ext uri="{BB962C8B-B14F-4D97-AF65-F5344CB8AC3E}">
        <p14:creationId xmlns:p14="http://schemas.microsoft.com/office/powerpoint/2010/main" val="425245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27584" y="980728"/>
            <a:ext cx="781236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u="sng" dirty="0" smtClean="0"/>
              <a:t>6 - Recursos-Chave</a:t>
            </a:r>
            <a:endParaRPr lang="pt-PT" sz="2400" b="1" u="sng" dirty="0"/>
          </a:p>
          <a:p>
            <a:endParaRPr lang="pt-PT" sz="2400" dirty="0"/>
          </a:p>
          <a:p>
            <a:r>
              <a:rPr lang="pt-PT" sz="2400" dirty="0" smtClean="0"/>
              <a:t>– </a:t>
            </a:r>
            <a:r>
              <a:rPr lang="pt-PT" sz="2400" dirty="0"/>
              <a:t>De que Recursos-chave é que as nossas Proposta de Valor necessitam?</a:t>
            </a:r>
          </a:p>
          <a:p>
            <a:r>
              <a:rPr lang="pt-PT" sz="2400" dirty="0"/>
              <a:t>– Quais os canais de distribuição?</a:t>
            </a:r>
          </a:p>
          <a:p>
            <a:r>
              <a:rPr lang="pt-PT" sz="2400" dirty="0"/>
              <a:t>– Quais as relações com clientes?</a:t>
            </a:r>
          </a:p>
          <a:p>
            <a:r>
              <a:rPr lang="pt-PT" sz="2400" dirty="0"/>
              <a:t>– Quais os Fluxos de Rendimento?</a:t>
            </a:r>
          </a:p>
          <a:p>
            <a:endParaRPr lang="pt-PT" sz="2400" dirty="0"/>
          </a:p>
          <a:p>
            <a:r>
              <a:rPr lang="pt-PT" sz="2400" dirty="0"/>
              <a:t>Os Recursos-Chave são as ações mais importantes que devemos realizar para fazer o nosso modelo de negócios funcionar. Estes recursos podem ser físicos, financeiros, intelectuais ou humanos. Os Recursos-Chave podem ser da empresa ou alugados por esta ou obtidos junto de Parceiros-Chave.</a:t>
            </a:r>
          </a:p>
          <a:p>
            <a:endParaRPr lang="pt-PT" sz="2400" dirty="0" smtClean="0"/>
          </a:p>
          <a:p>
            <a:pPr marL="342900" indent="-342900">
              <a:buFont typeface="Arial" charset="0"/>
              <a:buChar char="•"/>
            </a:pPr>
            <a:endParaRPr lang="pt-PT" sz="2400" dirty="0" smtClean="0"/>
          </a:p>
          <a:p>
            <a:r>
              <a:rPr lang="pt-PT" sz="2400" dirty="0" smtClean="0"/>
              <a:t> 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4657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83568" y="764704"/>
            <a:ext cx="74888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u="sng" dirty="0" smtClean="0"/>
              <a:t>7 - Atividades-Chave</a:t>
            </a:r>
            <a:endParaRPr lang="pt-PT" sz="3200" b="1" u="sng" dirty="0"/>
          </a:p>
          <a:p>
            <a:endParaRPr lang="pt-PT" sz="3200" dirty="0" smtClean="0"/>
          </a:p>
          <a:p>
            <a:r>
              <a:rPr lang="pt-PT" sz="3200" dirty="0" smtClean="0"/>
              <a:t>– </a:t>
            </a:r>
            <a:r>
              <a:rPr lang="pt-PT" sz="3200" dirty="0"/>
              <a:t>Que Atividades-Chave são exigidas pela nossa Proposta de Valor?</a:t>
            </a:r>
          </a:p>
          <a:p>
            <a:r>
              <a:rPr lang="pt-PT" sz="3200" dirty="0"/>
              <a:t>– Quais os Canais de Distribuição?</a:t>
            </a:r>
          </a:p>
          <a:p>
            <a:r>
              <a:rPr lang="pt-PT" sz="3200" dirty="0"/>
              <a:t>– Quais as Relações com os Clientes?</a:t>
            </a:r>
          </a:p>
          <a:p>
            <a:r>
              <a:rPr lang="pt-PT" sz="3200" dirty="0"/>
              <a:t>– Quais os Fluxos de Rendimento?</a:t>
            </a:r>
          </a:p>
          <a:p>
            <a:endParaRPr lang="pt-PT" sz="3200" dirty="0"/>
          </a:p>
          <a:p>
            <a:r>
              <a:rPr lang="pt-PT" sz="3200" dirty="0"/>
              <a:t>As Atividades-Chave são necessárias para criar e oferecer uma Proposta de Valor, chegar aos mercados, manter Relações com os Clientes e obter rendimentos</a:t>
            </a:r>
          </a:p>
        </p:txBody>
      </p:sp>
    </p:spTree>
    <p:extLst>
      <p:ext uri="{BB962C8B-B14F-4D97-AF65-F5344CB8AC3E}">
        <p14:creationId xmlns:p14="http://schemas.microsoft.com/office/powerpoint/2010/main" val="152891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11560" y="692696"/>
            <a:ext cx="75608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u="sng" dirty="0" smtClean="0"/>
              <a:t>8 - Parcerias-Chave</a:t>
            </a:r>
            <a:endParaRPr lang="pt-PT" sz="2400" b="1" u="sng" dirty="0"/>
          </a:p>
          <a:p>
            <a:endParaRPr lang="pt-PT" sz="2400" dirty="0"/>
          </a:p>
          <a:p>
            <a:r>
              <a:rPr lang="pt-PT" sz="2400" dirty="0" smtClean="0"/>
              <a:t>– </a:t>
            </a:r>
            <a:r>
              <a:rPr lang="pt-PT" sz="2400" dirty="0"/>
              <a:t>Quem são os nossos Parceiros-Chave?</a:t>
            </a:r>
          </a:p>
          <a:p>
            <a:r>
              <a:rPr lang="pt-PT" sz="2400" dirty="0"/>
              <a:t>– Quem são os nossos fornecedores-chave?</a:t>
            </a:r>
          </a:p>
          <a:p>
            <a:r>
              <a:rPr lang="pt-PT" sz="2400" dirty="0"/>
              <a:t>– Que recursos-chave estamos a adquirir aos nossos parceiros?</a:t>
            </a:r>
          </a:p>
          <a:p>
            <a:r>
              <a:rPr lang="pt-PT" sz="2400" dirty="0"/>
              <a:t>– Que atividades-chave é que os parceiros levam a cabo?</a:t>
            </a:r>
          </a:p>
          <a:p>
            <a:endParaRPr lang="pt-PT" sz="2400" dirty="0"/>
          </a:p>
          <a:p>
            <a:r>
              <a:rPr lang="pt-PT" sz="2400" dirty="0"/>
              <a:t>As parcerias-chave são a rede de fornecedores e parceiros que nos vão ajudar a manter o nosso modelo de negócios em funcionamento. São uma peça fundamental para vários modelos de negócios (especialmente se algum parceiro for responsável por uma atividade-chave) e servem para otimizar processos, reduzir riscos ou adquirir recursos.</a:t>
            </a:r>
          </a:p>
          <a:p>
            <a:r>
              <a:rPr lang="pt-PT" sz="2400" dirty="0" smtClean="0"/>
              <a:t> 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74321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11560" y="764704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u="sng" dirty="0" smtClean="0"/>
              <a:t>9 - Estrutura </a:t>
            </a:r>
            <a:r>
              <a:rPr lang="pt-PT" sz="2800" b="1" u="sng" dirty="0"/>
              <a:t>de Custos</a:t>
            </a:r>
          </a:p>
          <a:p>
            <a:endParaRPr lang="pt-PT" sz="2800" dirty="0"/>
          </a:p>
          <a:p>
            <a:r>
              <a:rPr lang="pt-PT" sz="2800" dirty="0" smtClean="0"/>
              <a:t>– </a:t>
            </a:r>
            <a:r>
              <a:rPr lang="pt-PT" sz="2800" dirty="0"/>
              <a:t>Quais são os custos mais importantes inerentes ao nosso modelo de negócios?</a:t>
            </a:r>
          </a:p>
          <a:p>
            <a:r>
              <a:rPr lang="pt-PT" sz="2800" dirty="0"/>
              <a:t>– Que são os recursos-chave mais caros?</a:t>
            </a:r>
          </a:p>
          <a:p>
            <a:r>
              <a:rPr lang="pt-PT" sz="2800" dirty="0"/>
              <a:t>– Quais são as atividades-chave mais caras?</a:t>
            </a:r>
          </a:p>
          <a:p>
            <a:endParaRPr lang="pt-PT" sz="2800" dirty="0"/>
          </a:p>
          <a:p>
            <a:r>
              <a:rPr lang="pt-PT" sz="2800" dirty="0"/>
              <a:t>A estrutura de custos deve descrever todos os principais custos envolvidos no modelo de negócio. Os recursos principais, canais, relacionamento com clientes e até as fontes de receita, sejam eles custos fixos ou variáveis.</a:t>
            </a:r>
          </a:p>
        </p:txBody>
      </p:sp>
    </p:spTree>
    <p:extLst>
      <p:ext uri="{BB962C8B-B14F-4D97-AF65-F5344CB8AC3E}">
        <p14:creationId xmlns:p14="http://schemas.microsoft.com/office/powerpoint/2010/main" val="72348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131"/>
            <a:ext cx="9144000" cy="60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</a:rPr>
              <a:t>FACULDADE DE CIÊNCIAS E TECNOLOGIA -  EMPREENDEDORISMO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99530" y="6581001"/>
            <a:ext cx="85324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200" dirty="0"/>
              <a:t>Business </a:t>
            </a:r>
            <a:r>
              <a:rPr lang="pt-PT" sz="1200" dirty="0" err="1"/>
              <a:t>Model</a:t>
            </a:r>
            <a:r>
              <a:rPr lang="pt-PT" sz="1200" dirty="0"/>
              <a:t> </a:t>
            </a:r>
            <a:r>
              <a:rPr lang="pt-PT" sz="1200" dirty="0" err="1"/>
              <a:t>Canvas</a:t>
            </a:r>
            <a:r>
              <a:rPr lang="pt-PT" sz="1200" dirty="0"/>
              <a:t>: nine business </a:t>
            </a:r>
            <a:r>
              <a:rPr lang="pt-PT" sz="1200" dirty="0" err="1"/>
              <a:t>model</a:t>
            </a:r>
            <a:r>
              <a:rPr lang="pt-PT" sz="1200" dirty="0"/>
              <a:t> </a:t>
            </a:r>
            <a:r>
              <a:rPr lang="pt-PT" sz="1200" dirty="0" err="1"/>
              <a:t>building</a:t>
            </a:r>
            <a:r>
              <a:rPr lang="pt-PT" sz="1200" dirty="0"/>
              <a:t> </a:t>
            </a:r>
            <a:r>
              <a:rPr lang="pt-PT" sz="1200" dirty="0" err="1"/>
              <a:t>blocks</a:t>
            </a:r>
            <a:r>
              <a:rPr lang="pt-PT" sz="1200" dirty="0"/>
              <a:t>, </a:t>
            </a:r>
            <a:r>
              <a:rPr lang="pt-PT" sz="1200" dirty="0" err="1"/>
              <a:t>Osterwalder</a:t>
            </a:r>
            <a:r>
              <a:rPr lang="pt-PT" sz="1200" dirty="0"/>
              <a:t>, </a:t>
            </a:r>
            <a:r>
              <a:rPr lang="pt-PT" sz="1200" dirty="0" err="1"/>
              <a:t>Pigneur</a:t>
            </a:r>
            <a:r>
              <a:rPr lang="pt-PT" sz="1200" dirty="0"/>
              <a:t> &amp; al. 2010</a:t>
            </a:r>
            <a:endParaRPr lang="es-ES" sz="12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46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1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813</Words>
  <Application>Microsoft Office PowerPoint</Application>
  <PresentationFormat>Apresentação no Ecrã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Sofia Isabel</cp:lastModifiedBy>
  <cp:revision>84</cp:revision>
  <cp:lastPrinted>2016-10-06T20:49:37Z</cp:lastPrinted>
  <dcterms:created xsi:type="dcterms:W3CDTF">2016-09-15T23:51:56Z</dcterms:created>
  <dcterms:modified xsi:type="dcterms:W3CDTF">2022-01-16T14:51:49Z</dcterms:modified>
</cp:coreProperties>
</file>